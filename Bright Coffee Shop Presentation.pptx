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modernComment_102_E642A095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B32379-3694-94CC-34CA-611012F6913A}" name="Judicious Masasanya" initials="JM" userId="1218e401ef9c51d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dic\OneDrive%20-%20ISON%20XPERIENCES\Desktop\BrightLearn\Coffee_Shop_Analysis_casestud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dic\OneDrive%20-%20ISON%20XPERIENCES\Desktop\BrightLearn\Coffee_Shop_Analysis_casestud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[Coffee_Shop_Analysis_casestudy.xlsx]Dashboard!PivotTable1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</a:t>
            </a:r>
            <a:br>
              <a:rPr lang="en-US"/>
            </a:br>
            <a:r>
              <a:rPr lang="en-US"/>
              <a:t>Monthly</a:t>
            </a:r>
            <a:r>
              <a:rPr lang="en-US" baseline="0"/>
              <a:t> view</a:t>
            </a:r>
            <a:endParaRPr lang="en-US"/>
          </a:p>
        </c:rich>
      </c:tx>
      <c:layout>
        <c:manualLayout>
          <c:xMode val="edge"/>
          <c:yMode val="edge"/>
          <c:x val="0.38085411198600178"/>
          <c:y val="5.9164479440069993E-2"/>
        </c:manualLayout>
      </c:layout>
      <c:overlay val="0"/>
      <c:spPr>
        <a:solidFill>
          <a:srgbClr val="FFFF00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Dashboard!$Q$3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Dashboard!$P$4:$P$10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Dashboard!$Q$4:$Q$10</c:f>
              <c:numCache>
                <c:formatCode>_-[$$-409]* #\ ##0.00_ ;_-[$$-409]* \-#\ ##0.00\ ;_-[$$-409]* "-"??_ ;_-@_ </c:formatCode>
                <c:ptCount val="6"/>
                <c:pt idx="0">
                  <c:v>81677.739999999991</c:v>
                </c:pt>
                <c:pt idx="1">
                  <c:v>76145.189999999973</c:v>
                </c:pt>
                <c:pt idx="2">
                  <c:v>98834.679999999964</c:v>
                </c:pt>
                <c:pt idx="3">
                  <c:v>118941.07999999993</c:v>
                </c:pt>
                <c:pt idx="4">
                  <c:v>156727.75999999995</c:v>
                </c:pt>
                <c:pt idx="5">
                  <c:v>166485.87999999998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B0-4C21-AFA2-12F7CD815F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03664143"/>
        <c:axId val="2003665583"/>
        <c:axId val="0"/>
      </c:bar3DChart>
      <c:catAx>
        <c:axId val="2003664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3665583"/>
        <c:crosses val="autoZero"/>
        <c:auto val="1"/>
        <c:lblAlgn val="ctr"/>
        <c:lblOffset val="100"/>
        <c:noMultiLvlLbl val="0"/>
      </c:catAx>
      <c:valAx>
        <c:axId val="2003665583"/>
        <c:scaling>
          <c:orientation val="minMax"/>
        </c:scaling>
        <c:delete val="0"/>
        <c:axPos val="l"/>
        <c:numFmt formatCode="_-[$$-409]* #\ ##0.00_ ;_-[$$-409]* \-#\ ##0.0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3664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[Coffee_Shop_Analysis_casestudy.xlsx]Dashboard!PivotTable2</c:name>
    <c:fmtId val="5"/>
  </c:pivotSource>
  <c:chart>
    <c:autoTitleDeleted val="0"/>
    <c:pivotFmts>
      <c:pivotFmt>
        <c:idx val="0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tint val="96000"/>
                  <a:lumMod val="104000"/>
                </a:schemeClr>
              </a:gs>
              <a:gs pos="100000">
                <a:schemeClr val="accent1">
                  <a:shade val="90000"/>
                  <a:lumMod val="90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Dashboard!$Q$13</c:f>
              <c:strCache>
                <c:ptCount val="1"/>
                <c:pt idx="0">
                  <c:v>Sum of number_of_sales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Dashboard!$P$14:$P$20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Dashboard!$Q$14:$Q$20</c:f>
              <c:numCache>
                <c:formatCode>General</c:formatCode>
                <c:ptCount val="6"/>
                <c:pt idx="0">
                  <c:v>17314</c:v>
                </c:pt>
                <c:pt idx="1">
                  <c:v>16359</c:v>
                </c:pt>
                <c:pt idx="2">
                  <c:v>21229</c:v>
                </c:pt>
                <c:pt idx="3">
                  <c:v>25335</c:v>
                </c:pt>
                <c:pt idx="4">
                  <c:v>33527</c:v>
                </c:pt>
                <c:pt idx="5">
                  <c:v>35352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7A-4115-9226-4201B4DC14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986431"/>
        <c:axId val="38993151"/>
      </c:barChart>
      <c:lineChart>
        <c:grouping val="standard"/>
        <c:varyColors val="0"/>
        <c:ser>
          <c:idx val="1"/>
          <c:order val="1"/>
          <c:tx>
            <c:strRef>
              <c:f>Dashboard!$R$13</c:f>
              <c:strCache>
                <c:ptCount val="1"/>
                <c:pt idx="0">
                  <c:v>Sum of revenue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Dashboard!$P$14:$P$20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Dashboard!$R$14:$R$20</c:f>
              <c:numCache>
                <c:formatCode>_-[$$-409]* #\ ##0.00_ ;_-[$$-409]* \-#\ ##0.00\ ;_-[$$-409]* "-"??_ ;_-@_ </c:formatCode>
                <c:ptCount val="6"/>
                <c:pt idx="0">
                  <c:v>81677.739999999991</c:v>
                </c:pt>
                <c:pt idx="1">
                  <c:v>76145.189999999973</c:v>
                </c:pt>
                <c:pt idx="2">
                  <c:v>98834.679999999964</c:v>
                </c:pt>
                <c:pt idx="3">
                  <c:v>118941.07999999993</c:v>
                </c:pt>
                <c:pt idx="4">
                  <c:v>156727.75999999995</c:v>
                </c:pt>
                <c:pt idx="5">
                  <c:v>166485.87999999998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87A-4115-9226-4201B4DC14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2680655"/>
        <c:axId val="72676815"/>
      </c:lineChart>
      <c:catAx>
        <c:axId val="72680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676815"/>
        <c:crosses val="autoZero"/>
        <c:auto val="1"/>
        <c:lblAlgn val="ctr"/>
        <c:lblOffset val="100"/>
        <c:noMultiLvlLbl val="0"/>
      </c:catAx>
      <c:valAx>
        <c:axId val="72676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_-[$$-409]* #\ ##0.00_ ;_-[$$-409]* \-#\ ##0.0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680655"/>
        <c:crosses val="autoZero"/>
        <c:crossBetween val="between"/>
      </c:valAx>
      <c:valAx>
        <c:axId val="38993151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986431"/>
        <c:crosses val="max"/>
        <c:crossBetween val="between"/>
      </c:valAx>
      <c:catAx>
        <c:axId val="3898643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899315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omments/modernComment_102_E642A0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1F8F253-49F0-4E34-8957-825EF95576F8}" authorId="{12B32379-3694-94CC-34CA-611012F6913A}" created="2026-03-31T20:33:57.987">
    <pc:sldMkLst xmlns:pc="http://schemas.microsoft.com/office/powerpoint/2013/main/command">
      <pc:docMk/>
      <pc:sldMk cId="3863126165" sldId="258"/>
    </pc:sldMkLst>
    <p188:txBody>
      <a:bodyPr/>
      <a:lstStyle/>
      <a:p>
        <a:r>
          <a:rPr lang="en-ZA"/>
          <a:t>Revenue increases steadily from January to June
Highest revenue observed in June (~$166K)
Lowest revenue in February (~$76K)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microsoft.com/office/2018/10/relationships/comments" Target="../comments/modernComment_102_E642A095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DF00D-885D-CFA0-C493-2E4973DB8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074" y="707656"/>
            <a:ext cx="9440034" cy="1199802"/>
          </a:xfrm>
        </p:spPr>
        <p:txBody>
          <a:bodyPr>
            <a:normAutofit/>
          </a:bodyPr>
          <a:lstStyle/>
          <a:p>
            <a:r>
              <a:rPr lang="en-US" dirty="0"/>
              <a:t>Bright Coffee Shop 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9AC00-E742-98F0-461C-B2D10550D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2083" y="5625410"/>
            <a:ext cx="9440034" cy="1049867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/>
              <a:t>	6 month  Analysis</a:t>
            </a:r>
            <a:br>
              <a:rPr lang="en-US" i="1" dirty="0"/>
            </a:br>
            <a:br>
              <a:rPr lang="en-US" i="1" dirty="0"/>
            </a:br>
            <a:r>
              <a:rPr lang="en-US" i="1" dirty="0"/>
              <a:t>Judicious Masasanya </a:t>
            </a:r>
            <a:br>
              <a:rPr lang="en-US" i="1" dirty="0"/>
            </a:br>
            <a:r>
              <a:rPr lang="en-US" i="1" dirty="0"/>
              <a:t>Data Science 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4" name="Picture 3" descr="Free Coffee Stock Photos · Pexels · Free Stock Photos">
            <a:extLst>
              <a:ext uri="{FF2B5EF4-FFF2-40B4-BE49-F238E27FC236}">
                <a16:creationId xmlns:a16="http://schemas.microsoft.com/office/drawing/2014/main" id="{B1B98196-66F0-DBE9-79CB-BCEF086C0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110" y="2170755"/>
            <a:ext cx="3733800" cy="3183467"/>
          </a:xfrm>
          <a:prstGeom prst="rect">
            <a:avLst/>
          </a:prstGeom>
        </p:spPr>
      </p:pic>
      <p:pic>
        <p:nvPicPr>
          <p:cNvPr id="1026" name="Picture 2" descr="Free Coffee Stock Photos · Pexels · Free Stock Photos">
            <a:extLst>
              <a:ext uri="{FF2B5EF4-FFF2-40B4-BE49-F238E27FC236}">
                <a16:creationId xmlns:a16="http://schemas.microsoft.com/office/drawing/2014/main" id="{8C5EBD58-E3FD-0988-55C4-4E813689B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876" y="2071876"/>
            <a:ext cx="4236474" cy="318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See related image detail. Coffee with latte art in a white ceramic cup on a table | Premium AI ...">
            <a:extLst>
              <a:ext uri="{FF2B5EF4-FFF2-40B4-BE49-F238E27FC236}">
                <a16:creationId xmlns:a16="http://schemas.microsoft.com/office/drawing/2014/main" id="{153660F3-73CD-BFF6-97C8-94B2A64393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19700" y="1871663"/>
            <a:ext cx="175260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sp>
        <p:nvSpPr>
          <p:cNvPr id="6" name="AutoShape 6" descr="See related image detail. Coffee with latte art in a white ceramic cup on a table | Premium AI ...">
            <a:extLst>
              <a:ext uri="{FF2B5EF4-FFF2-40B4-BE49-F238E27FC236}">
                <a16:creationId xmlns:a16="http://schemas.microsoft.com/office/drawing/2014/main" id="{73CB5789-D79D-FF79-A422-27C576BE50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72100" y="2024063"/>
            <a:ext cx="175260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sp>
        <p:nvSpPr>
          <p:cNvPr id="7" name="AutoShape 8" descr="See related image detail. 🔥 [120+] Coffee Cup Wallpapers | WallpaperSafari">
            <a:extLst>
              <a:ext uri="{FF2B5EF4-FFF2-40B4-BE49-F238E27FC236}">
                <a16:creationId xmlns:a16="http://schemas.microsoft.com/office/drawing/2014/main" id="{AB21896F-39B3-FFEE-0130-E8BEC72126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64626" y="2261153"/>
            <a:ext cx="2407674" cy="261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1998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E8FF5-5986-52D2-8C2C-34AF37F90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 of this Analysis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4C6E-3A27-9A3F-369A-885B120BF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369574"/>
            <a:ext cx="10353762" cy="3421626"/>
          </a:xfrm>
        </p:spPr>
        <p:txBody>
          <a:bodyPr/>
          <a:lstStyle/>
          <a:p>
            <a:pPr marL="36900" indent="0">
              <a:buNone/>
            </a:pPr>
            <a:r>
              <a:rPr lang="en-US" dirty="0"/>
              <a:t>Identify trends in revenue, </a:t>
            </a:r>
            <a:br>
              <a:rPr lang="en-US" dirty="0"/>
            </a:br>
            <a:r>
              <a:rPr lang="en-US" dirty="0"/>
              <a:t>Sales volume, and timing </a:t>
            </a:r>
            <a:br>
              <a:rPr lang="en-US" dirty="0"/>
            </a:br>
            <a:r>
              <a:rPr lang="en-US" dirty="0"/>
              <a:t>Discover best-selling products and peak hours </a:t>
            </a:r>
            <a:br>
              <a:rPr lang="en-US" dirty="0"/>
            </a:br>
            <a:r>
              <a:rPr lang="en-US" dirty="0"/>
              <a:t>Provide actionable business recommendations</a:t>
            </a:r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dirty="0"/>
              <a:t>Built pivot tables and dashboards &amp; charts Analyzed trends  by Month ,Day ,Time and Product category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03860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0AFC-32BF-038A-869E-9A88454B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</a:t>
            </a:r>
            <a:endParaRPr lang="en-Z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48FBD-1D0A-488F-B669-1AE668E673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2749385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C9D4E39-CE7C-8EEC-6BD7-DA3475C13BB0}"/>
              </a:ext>
            </a:extLst>
          </p:cNvPr>
          <p:cNvSpPr txBox="1"/>
          <p:nvPr/>
        </p:nvSpPr>
        <p:spPr>
          <a:xfrm>
            <a:off x="2392845" y="5791200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Revenue increases steadily from January to June Highest revenue observed in June (~$166K)Lowest revenue in February (~$76K)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631261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0EFF-5EF3-308B-E96B-F5C2915D7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vs Revenue Overview</a:t>
            </a:r>
            <a:endParaRPr lang="en-Z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BF7C5F-4CC3-3BA3-D410-0F237F737F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3847329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85C8DF-ECB2-4DFC-E9FE-3D08FA39E637}"/>
              </a:ext>
            </a:extLst>
          </p:cNvPr>
          <p:cNvSpPr txBox="1"/>
          <p:nvPr/>
        </p:nvSpPr>
        <p:spPr>
          <a:xfrm>
            <a:off x="2486725" y="5925234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Sales growth is consistent → increasing customer demand  Positive correlation between sales volume and revenue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7067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FE30F-CF3F-90FE-9F3D-D141A565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 on Month comparison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79A1A-763F-2D5A-A4D6-FD0900038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Heatmap view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Sales increase significantly from Jan → Jun with a Higher activity mid-week and weekends June shows peak across almost all days</a:t>
            </a: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61D60B-B17B-5FBE-2A48-EA97A6C64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14" y="2487848"/>
            <a:ext cx="7570596" cy="18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38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A5A3-6E35-6B22-586F-EFCD2DC31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 and Recommendations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C4B2A-A63E-D126-9CE9-3DFFB93B9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INSIGHTS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📈 Revenue steadily increasing month-over-month</a:t>
            </a:r>
            <a:br>
              <a:rPr lang="en-US" dirty="0"/>
            </a:br>
            <a:r>
              <a:rPr lang="en-US" dirty="0"/>
              <a:t>🛍️ Sales volume strongly drives revenue growth</a:t>
            </a:r>
            <a:br>
              <a:rPr lang="en-US" dirty="0"/>
            </a:br>
            <a:r>
              <a:rPr lang="en-US" dirty="0"/>
              <a:t>📅 Weekends perform slightly better</a:t>
            </a:r>
            <a:br>
              <a:rPr lang="en-US" dirty="0"/>
            </a:br>
            <a:r>
              <a:rPr lang="en-US" dirty="0"/>
              <a:t>🔥 June is the peak month across all metrics</a:t>
            </a:r>
            <a:br>
              <a:rPr lang="en-US" dirty="0"/>
            </a:br>
            <a:r>
              <a:rPr lang="en-US" dirty="0"/>
              <a:t>⚖️ Balanced daily performance (no major weak day)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RECOMMENDATIONS</a:t>
            </a:r>
            <a:br>
              <a:rPr lang="en-US" dirty="0"/>
            </a:br>
            <a:r>
              <a:rPr lang="en-US" dirty="0"/>
              <a:t>Run promotions during slower months (Jan–Feb)Target weekday traffic with special offers</a:t>
            </a:r>
            <a:br>
              <a:rPr lang="en-US" dirty="0"/>
            </a:br>
            <a:r>
              <a:rPr lang="en-US" dirty="0"/>
              <a:t>Stock more during high-demand months (May–June)Focus on top-selling products (WINTER SEASON)</a:t>
            </a:r>
            <a:br>
              <a:rPr lang="en-US" dirty="0"/>
            </a:br>
            <a:r>
              <a:rPr lang="en-US" dirty="0"/>
              <a:t>Introduce combo on weekends during peak hours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1393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D840-93B5-86E8-331E-08B60FC7B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CDA73-D10F-ECC1-C9C7-B01CD7F2D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50"/>
            <a:ext cx="10353762" cy="120739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Business shows strong growth potential data-driven decisions can further increase revenue Strategic marketing + inventory planning = higher profitability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               THANK YOU 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1CEF51-EB15-5E79-1D30-09B377740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3429000"/>
            <a:ext cx="3368332" cy="2660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F1FDF6-9C57-C555-326E-92AF11DE5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175" y="3178068"/>
            <a:ext cx="3097160" cy="31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122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145</TotalTime>
  <Words>251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Calisto MT</vt:lpstr>
      <vt:lpstr>Wingdings 2</vt:lpstr>
      <vt:lpstr>Slate</vt:lpstr>
      <vt:lpstr>Bright Coffee Shop </vt:lpstr>
      <vt:lpstr>Goal  of this Analysis</vt:lpstr>
      <vt:lpstr>Monthly </vt:lpstr>
      <vt:lpstr>Sales vs Revenue Overview</vt:lpstr>
      <vt:lpstr>Month on Month comparison </vt:lpstr>
      <vt:lpstr>Key insights  and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Judicious Masasanya</dc:creator>
  <cp:lastModifiedBy>Judicious Masasanya</cp:lastModifiedBy>
  <cp:revision>3</cp:revision>
  <dcterms:created xsi:type="dcterms:W3CDTF">2026-03-31T18:59:51Z</dcterms:created>
  <dcterms:modified xsi:type="dcterms:W3CDTF">2026-03-31T21:25:34Z</dcterms:modified>
</cp:coreProperties>
</file>